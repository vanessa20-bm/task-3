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odec Pro" charset="1" panose="00000500000000000000"/>
      <p:regular r:id="rId12"/>
    </p:embeddedFont>
    <p:embeddedFont>
      <p:font typeface="Codec Pro Light" charset="1" panose="00000300000000000000"/>
      <p:regular r:id="rId13"/>
    </p:embeddedFont>
    <p:embeddedFont>
      <p:font typeface="Codec Pro Bold" charset="1" panose="000006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573893" y="2321242"/>
            <a:ext cx="19435787" cy="0"/>
          </a:xfrm>
          <a:prstGeom prst="line">
            <a:avLst/>
          </a:prstGeom>
          <a:ln cap="flat" w="9525">
            <a:solidFill>
              <a:srgbClr val="EEEEEE">
                <a:alpha val="7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572250" y="-198529"/>
            <a:ext cx="5143500" cy="6313558"/>
            <a:chOff x="0" y="0"/>
            <a:chExt cx="796863" cy="9781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6863" cy="978135"/>
            </a:xfrm>
            <a:custGeom>
              <a:avLst/>
              <a:gdLst/>
              <a:ahLst/>
              <a:cxnLst/>
              <a:rect r="r" b="b" t="t" l="l"/>
              <a:pathLst>
                <a:path h="978135" w="796863">
                  <a:moveTo>
                    <a:pt x="36124" y="0"/>
                  </a:moveTo>
                  <a:lnTo>
                    <a:pt x="760738" y="0"/>
                  </a:lnTo>
                  <a:cubicBezTo>
                    <a:pt x="770319" y="0"/>
                    <a:pt x="779508" y="3806"/>
                    <a:pt x="786282" y="10581"/>
                  </a:cubicBezTo>
                  <a:cubicBezTo>
                    <a:pt x="793057" y="17355"/>
                    <a:pt x="796863" y="26544"/>
                    <a:pt x="796863" y="36124"/>
                  </a:cubicBezTo>
                  <a:lnTo>
                    <a:pt x="796863" y="942011"/>
                  </a:lnTo>
                  <a:cubicBezTo>
                    <a:pt x="796863" y="951592"/>
                    <a:pt x="793057" y="960780"/>
                    <a:pt x="786282" y="967555"/>
                  </a:cubicBezTo>
                  <a:cubicBezTo>
                    <a:pt x="779508" y="974329"/>
                    <a:pt x="770319" y="978135"/>
                    <a:pt x="760738" y="978135"/>
                  </a:cubicBezTo>
                  <a:lnTo>
                    <a:pt x="36124" y="978135"/>
                  </a:lnTo>
                  <a:cubicBezTo>
                    <a:pt x="26544" y="978135"/>
                    <a:pt x="17355" y="974329"/>
                    <a:pt x="10581" y="967555"/>
                  </a:cubicBezTo>
                  <a:cubicBezTo>
                    <a:pt x="3806" y="960780"/>
                    <a:pt x="0" y="951592"/>
                    <a:pt x="0" y="94201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138" r="0" b="-1113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1648788" y="1705917"/>
            <a:ext cx="3789024" cy="5029200"/>
            <a:chOff x="0" y="0"/>
            <a:chExt cx="795185" cy="1055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2850188" y="1705917"/>
            <a:ext cx="3789024" cy="5029200"/>
            <a:chOff x="0" y="0"/>
            <a:chExt cx="795185" cy="10554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1540" y="5472092"/>
            <a:ext cx="4166528" cy="642937"/>
            <a:chOff x="0" y="0"/>
            <a:chExt cx="3292071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92071" cy="508000"/>
            </a:xfrm>
            <a:custGeom>
              <a:avLst/>
              <a:gdLst/>
              <a:ahLst/>
              <a:cxnLst/>
              <a:rect r="r" b="b" t="t" l="l"/>
              <a:pathLst>
                <a:path h="508000" w="3292071">
                  <a:moveTo>
                    <a:pt x="185812" y="0"/>
                  </a:moveTo>
                  <a:lnTo>
                    <a:pt x="3106259" y="0"/>
                  </a:lnTo>
                  <a:cubicBezTo>
                    <a:pt x="3208880" y="0"/>
                    <a:pt x="3292071" y="83191"/>
                    <a:pt x="3292071" y="185812"/>
                  </a:cubicBezTo>
                  <a:lnTo>
                    <a:pt x="3292071" y="322188"/>
                  </a:lnTo>
                  <a:cubicBezTo>
                    <a:pt x="3292071" y="424809"/>
                    <a:pt x="3208880" y="508000"/>
                    <a:pt x="3106259" y="508000"/>
                  </a:cubicBezTo>
                  <a:lnTo>
                    <a:pt x="185812" y="508000"/>
                  </a:lnTo>
                  <a:cubicBezTo>
                    <a:pt x="83191" y="508000"/>
                    <a:pt x="0" y="424809"/>
                    <a:pt x="0" y="322188"/>
                  </a:cubicBezTo>
                  <a:lnTo>
                    <a:pt x="0" y="185812"/>
                  </a:lnTo>
                  <a:cubicBezTo>
                    <a:pt x="0" y="83191"/>
                    <a:pt x="83191" y="0"/>
                    <a:pt x="185812" y="0"/>
                  </a:cubicBezTo>
                  <a:close/>
                </a:path>
              </a:pathLst>
            </a:custGeom>
            <a:solidFill>
              <a:srgbClr val="070628"/>
            </a:solidFill>
            <a:ln w="9525" cap="rnd">
              <a:gradFill>
                <a:gsLst>
                  <a:gs pos="0">
                    <a:srgbClr val="EEEEEE">
                      <a:alpha val="75000"/>
                    </a:srgbClr>
                  </a:gs>
                  <a:gs pos="100000">
                    <a:srgbClr val="EEEEEE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292071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600721"/>
            <a:ext cx="385680" cy="3856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D0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51393" y="7176136"/>
            <a:ext cx="7616990" cy="170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9"/>
              </a:lnSpc>
            </a:pPr>
            <a:r>
              <a:rPr lang="en-US" sz="12399" spc="-805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Sales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67975" y="7176113"/>
            <a:ext cx="13078826" cy="170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9"/>
              </a:lnSpc>
            </a:pPr>
            <a:r>
              <a:rPr lang="en-US" sz="12399" spc="-805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Dashboard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13581" y="5598065"/>
            <a:ext cx="2745719" cy="51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</a:pPr>
            <a:r>
              <a:rPr lang="en-US" sz="1400" spc="14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T</a:t>
            </a:r>
            <a:r>
              <a:rPr lang="en-US" sz="1400" spc="14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racking Performance, Revenue Growth, and Market Trends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601784" y="171366"/>
            <a:ext cx="2800183" cy="4514850"/>
            <a:chOff x="0" y="0"/>
            <a:chExt cx="654611" cy="1055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4610" cy="1055456"/>
            </a:xfrm>
            <a:custGeom>
              <a:avLst/>
              <a:gdLst/>
              <a:ahLst/>
              <a:cxnLst/>
              <a:rect r="r" b="b" t="t" l="l"/>
              <a:pathLst>
                <a:path h="1055456" w="654610">
                  <a:moveTo>
                    <a:pt x="203200" y="1055456"/>
                  </a:moveTo>
                  <a:lnTo>
                    <a:pt x="451410" y="1055456"/>
                  </a:lnTo>
                  <a:lnTo>
                    <a:pt x="654610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57150"/>
              <a:ext cx="400611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974772" y="5488622"/>
            <a:ext cx="3239519" cy="4299837"/>
            <a:chOff x="0" y="0"/>
            <a:chExt cx="795185" cy="1055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15750" y="2944742"/>
            <a:ext cx="5543550" cy="6313558"/>
            <a:chOff x="0" y="0"/>
            <a:chExt cx="858841" cy="978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8841" cy="978135"/>
            </a:xfrm>
            <a:custGeom>
              <a:avLst/>
              <a:gdLst/>
              <a:ahLst/>
              <a:cxnLst/>
              <a:rect r="r" b="b" t="t" l="l"/>
              <a:pathLst>
                <a:path h="978135" w="858841">
                  <a:moveTo>
                    <a:pt x="33518" y="0"/>
                  </a:moveTo>
                  <a:lnTo>
                    <a:pt x="825323" y="0"/>
                  </a:lnTo>
                  <a:cubicBezTo>
                    <a:pt x="843835" y="0"/>
                    <a:pt x="858841" y="15006"/>
                    <a:pt x="858841" y="33518"/>
                  </a:cubicBezTo>
                  <a:lnTo>
                    <a:pt x="858841" y="944618"/>
                  </a:lnTo>
                  <a:cubicBezTo>
                    <a:pt x="858841" y="963129"/>
                    <a:pt x="843835" y="978135"/>
                    <a:pt x="825323" y="978135"/>
                  </a:cubicBezTo>
                  <a:lnTo>
                    <a:pt x="33518" y="978135"/>
                  </a:lnTo>
                  <a:cubicBezTo>
                    <a:pt x="15006" y="978135"/>
                    <a:pt x="0" y="963129"/>
                    <a:pt x="0" y="944618"/>
                  </a:cubicBezTo>
                  <a:lnTo>
                    <a:pt x="0" y="33518"/>
                  </a:lnTo>
                  <a:cubicBezTo>
                    <a:pt x="0" y="15006"/>
                    <a:pt x="15006" y="0"/>
                    <a:pt x="33518" y="0"/>
                  </a:cubicBezTo>
                  <a:close/>
                </a:path>
              </a:pathLst>
            </a:custGeom>
            <a:blipFill>
              <a:blip r:embed="rId2"/>
              <a:stretch>
                <a:fillRect l="-35340" t="0" r="-3534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5522804"/>
            <a:ext cx="385680" cy="3856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D0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35358" y="5556576"/>
            <a:ext cx="3734622" cy="2638081"/>
            <a:chOff x="0" y="0"/>
            <a:chExt cx="2950812" cy="20844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50812" cy="2084410"/>
            </a:xfrm>
            <a:custGeom>
              <a:avLst/>
              <a:gdLst/>
              <a:ahLst/>
              <a:cxnLst/>
              <a:rect r="r" b="b" t="t" l="l"/>
              <a:pathLst>
                <a:path h="2084410" w="2950812">
                  <a:moveTo>
                    <a:pt x="51825" y="0"/>
                  </a:moveTo>
                  <a:lnTo>
                    <a:pt x="2898987" y="0"/>
                  </a:lnTo>
                  <a:cubicBezTo>
                    <a:pt x="2927609" y="0"/>
                    <a:pt x="2950812" y="23203"/>
                    <a:pt x="2950812" y="51825"/>
                  </a:cubicBezTo>
                  <a:lnTo>
                    <a:pt x="2950812" y="2032584"/>
                  </a:lnTo>
                  <a:cubicBezTo>
                    <a:pt x="2950812" y="2061207"/>
                    <a:pt x="2927609" y="2084410"/>
                    <a:pt x="2898987" y="2084410"/>
                  </a:cubicBezTo>
                  <a:lnTo>
                    <a:pt x="51825" y="2084410"/>
                  </a:lnTo>
                  <a:cubicBezTo>
                    <a:pt x="23203" y="2084410"/>
                    <a:pt x="0" y="2061207"/>
                    <a:pt x="0" y="2032584"/>
                  </a:cubicBezTo>
                  <a:lnTo>
                    <a:pt x="0" y="51825"/>
                  </a:lnTo>
                  <a:cubicBezTo>
                    <a:pt x="0" y="23203"/>
                    <a:pt x="23203" y="0"/>
                    <a:pt x="51825" y="0"/>
                  </a:cubicBezTo>
                  <a:close/>
                </a:path>
              </a:pathLst>
            </a:custGeom>
            <a:solidFill>
              <a:srgbClr val="0A0839"/>
            </a:solidFill>
            <a:ln w="9525" cap="rnd">
              <a:gradFill>
                <a:gsLst>
                  <a:gs pos="0">
                    <a:srgbClr val="EEEEEE">
                      <a:alpha val="75000"/>
                    </a:srgbClr>
                  </a:gs>
                  <a:gs pos="100000">
                    <a:srgbClr val="EEEEEE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950812" cy="214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929250"/>
            <a:ext cx="9915525" cy="236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7111" spc="-1112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877624"/>
            <a:ext cx="10241280" cy="236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7111" spc="-1112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156134"/>
            <a:ext cx="7014182" cy="122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753" indent="-183876" lvl="1">
              <a:lnSpc>
                <a:spcPts val="2384"/>
              </a:lnSpc>
              <a:buFont typeface="Arial"/>
              <a:buChar char="•"/>
            </a:pPr>
            <a:r>
              <a:rPr lang="en-US" sz="1703" spc="17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Analyze s</a:t>
            </a:r>
            <a:r>
              <a:rPr lang="en-US" sz="1703" spc="17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ales performance, profit, and customer trends.</a:t>
            </a:r>
          </a:p>
          <a:p>
            <a:pPr algn="l" marL="367753" indent="-183876" lvl="1">
              <a:lnSpc>
                <a:spcPts val="2384"/>
              </a:lnSpc>
              <a:buFont typeface="Arial"/>
              <a:buChar char="•"/>
            </a:pPr>
            <a:r>
              <a:rPr lang="en-US" sz="1703" spc="17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 Build an interactive dashboard for business stakeholders.</a:t>
            </a:r>
          </a:p>
          <a:p>
            <a:pPr algn="l" marL="367753" indent="-183876" lvl="1">
              <a:lnSpc>
                <a:spcPts val="2384"/>
              </a:lnSpc>
              <a:buFont typeface="Arial"/>
              <a:buChar char="•"/>
            </a:pPr>
            <a:r>
              <a:rPr lang="en-US" sz="1703" spc="17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Support data-driven decision making.</a:t>
            </a:r>
          </a:p>
          <a:p>
            <a:pPr algn="l">
              <a:lnSpc>
                <a:spcPts val="238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749958" y="5480376"/>
            <a:ext cx="2400876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099" spc="20">
                <a:solidFill>
                  <a:srgbClr val="F7CD0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389698" y="4396681"/>
            <a:ext cx="3325390" cy="4413815"/>
            <a:chOff x="0" y="0"/>
            <a:chExt cx="795185" cy="1055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575815" y="481585"/>
            <a:ext cx="3934971" cy="5029200"/>
            <a:chOff x="0" y="0"/>
            <a:chExt cx="825815" cy="1055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815" cy="1055456"/>
            </a:xfrm>
            <a:custGeom>
              <a:avLst/>
              <a:gdLst/>
              <a:ahLst/>
              <a:cxnLst/>
              <a:rect r="r" b="b" t="t" l="l"/>
              <a:pathLst>
                <a:path h="1055456" w="825815">
                  <a:moveTo>
                    <a:pt x="203200" y="1055456"/>
                  </a:moveTo>
                  <a:lnTo>
                    <a:pt x="622615" y="1055456"/>
                  </a:lnTo>
                  <a:lnTo>
                    <a:pt x="82581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57150"/>
              <a:ext cx="57181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990651"/>
            <a:ext cx="6057900" cy="5267649"/>
            <a:chOff x="0" y="0"/>
            <a:chExt cx="938527" cy="816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8527" cy="816097"/>
            </a:xfrm>
            <a:custGeom>
              <a:avLst/>
              <a:gdLst/>
              <a:ahLst/>
              <a:cxnLst/>
              <a:rect r="r" b="b" t="t" l="l"/>
              <a:pathLst>
                <a:path h="816097" w="938527">
                  <a:moveTo>
                    <a:pt x="30672" y="0"/>
                  </a:moveTo>
                  <a:lnTo>
                    <a:pt x="907856" y="0"/>
                  </a:lnTo>
                  <a:cubicBezTo>
                    <a:pt x="924795" y="0"/>
                    <a:pt x="938527" y="13732"/>
                    <a:pt x="938527" y="30672"/>
                  </a:cubicBezTo>
                  <a:lnTo>
                    <a:pt x="938527" y="785425"/>
                  </a:lnTo>
                  <a:cubicBezTo>
                    <a:pt x="938527" y="793560"/>
                    <a:pt x="935296" y="801361"/>
                    <a:pt x="929544" y="807113"/>
                  </a:cubicBezTo>
                  <a:cubicBezTo>
                    <a:pt x="923792" y="812865"/>
                    <a:pt x="915990" y="816097"/>
                    <a:pt x="907856" y="816097"/>
                  </a:cubicBezTo>
                  <a:lnTo>
                    <a:pt x="30672" y="816097"/>
                  </a:lnTo>
                  <a:cubicBezTo>
                    <a:pt x="13732" y="816097"/>
                    <a:pt x="0" y="802364"/>
                    <a:pt x="0" y="785425"/>
                  </a:cubicBezTo>
                  <a:lnTo>
                    <a:pt x="0" y="30672"/>
                  </a:lnTo>
                  <a:cubicBezTo>
                    <a:pt x="0" y="13732"/>
                    <a:pt x="13732" y="0"/>
                    <a:pt x="30672" y="0"/>
                  </a:cubicBezTo>
                  <a:close/>
                </a:path>
              </a:pathLst>
            </a:custGeom>
            <a:blipFill>
              <a:blip r:embed="rId2"/>
              <a:stretch>
                <a:fillRect l="-15157" t="0" r="-151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51222" y="4851745"/>
            <a:ext cx="7238984" cy="3860209"/>
            <a:chOff x="0" y="0"/>
            <a:chExt cx="5719691" cy="3050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9691" cy="3050042"/>
            </a:xfrm>
            <a:custGeom>
              <a:avLst/>
              <a:gdLst/>
              <a:ahLst/>
              <a:cxnLst/>
              <a:rect r="r" b="b" t="t" l="l"/>
              <a:pathLst>
                <a:path h="3050042" w="5719691">
                  <a:moveTo>
                    <a:pt x="26737" y="0"/>
                  </a:moveTo>
                  <a:lnTo>
                    <a:pt x="5692954" y="0"/>
                  </a:lnTo>
                  <a:cubicBezTo>
                    <a:pt x="5700045" y="0"/>
                    <a:pt x="5706845" y="2817"/>
                    <a:pt x="5711860" y="7831"/>
                  </a:cubicBezTo>
                  <a:cubicBezTo>
                    <a:pt x="5716874" y="12845"/>
                    <a:pt x="5719691" y="19646"/>
                    <a:pt x="5719691" y="26737"/>
                  </a:cubicBezTo>
                  <a:lnTo>
                    <a:pt x="5719691" y="3023305"/>
                  </a:lnTo>
                  <a:cubicBezTo>
                    <a:pt x="5719691" y="3038071"/>
                    <a:pt x="5707720" y="3050042"/>
                    <a:pt x="5692954" y="3050042"/>
                  </a:cubicBezTo>
                  <a:lnTo>
                    <a:pt x="26737" y="3050042"/>
                  </a:lnTo>
                  <a:cubicBezTo>
                    <a:pt x="19646" y="3050042"/>
                    <a:pt x="12845" y="3047225"/>
                    <a:pt x="7831" y="3042210"/>
                  </a:cubicBezTo>
                  <a:cubicBezTo>
                    <a:pt x="2817" y="3037196"/>
                    <a:pt x="0" y="3030396"/>
                    <a:pt x="0" y="3023305"/>
                  </a:cubicBezTo>
                  <a:lnTo>
                    <a:pt x="0" y="26737"/>
                  </a:lnTo>
                  <a:cubicBezTo>
                    <a:pt x="0" y="11971"/>
                    <a:pt x="11971" y="0"/>
                    <a:pt x="26737" y="0"/>
                  </a:cubicBezTo>
                  <a:close/>
                </a:path>
              </a:pathLst>
            </a:custGeom>
            <a:solidFill>
              <a:srgbClr val="0A0839"/>
            </a:solidFill>
            <a:ln w="9525" cap="rnd">
              <a:gradFill>
                <a:gsLst>
                  <a:gs pos="0">
                    <a:srgbClr val="EEEEEE">
                      <a:alpha val="75000"/>
                    </a:srgbClr>
                  </a:gs>
                  <a:gs pos="100000">
                    <a:srgbClr val="EEEEEE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719691" cy="310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8995509" y="9253538"/>
            <a:ext cx="4380678" cy="0"/>
          </a:xfrm>
          <a:prstGeom prst="line">
            <a:avLst/>
          </a:prstGeom>
          <a:ln cap="flat" w="9525">
            <a:solidFill>
              <a:srgbClr val="EEEEEE">
                <a:alpha val="74902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750384" y="824050"/>
            <a:ext cx="10209956" cy="186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5"/>
              </a:lnSpc>
            </a:pPr>
            <a:r>
              <a:rPr lang="en-US" sz="13572" spc="-882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1337" y="2419188"/>
            <a:ext cx="7808869" cy="189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34"/>
              </a:lnSpc>
            </a:pPr>
            <a:r>
              <a:rPr lang="en-US" sz="13705" spc="-890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6667" y="5745247"/>
            <a:ext cx="9134430" cy="24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26" indent="-245163" lvl="1">
              <a:lnSpc>
                <a:spcPts val="3179"/>
              </a:lnSpc>
              <a:buFont typeface="Arial"/>
              <a:buChar char="•"/>
            </a:pP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 KPI Cards: Total Sales, Profit,</a:t>
            </a: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 Quantity</a:t>
            </a:r>
          </a:p>
          <a:p>
            <a:pPr algn="l" marL="490326" indent="-245163" lvl="1">
              <a:lnSpc>
                <a:spcPts val="3179"/>
              </a:lnSpc>
              <a:buFont typeface="Arial"/>
              <a:buChar char="•"/>
            </a:pP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T</a:t>
            </a: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ime-Series Sales &amp; Profit Analysis</a:t>
            </a:r>
          </a:p>
          <a:p>
            <a:pPr algn="l" marL="490326" indent="-245163" lvl="1">
              <a:lnSpc>
                <a:spcPts val="3179"/>
              </a:lnSpc>
              <a:buFont typeface="Arial"/>
              <a:buChar char="•"/>
            </a:pP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 Sales by Product and Catego</a:t>
            </a: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ry</a:t>
            </a:r>
          </a:p>
          <a:p>
            <a:pPr algn="l" marL="490326" indent="-245163" lvl="1">
              <a:lnSpc>
                <a:spcPts val="3179"/>
              </a:lnSpc>
              <a:buFont typeface="Arial"/>
              <a:buChar char="•"/>
            </a:pP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Sales by Payment Mode</a:t>
            </a:r>
          </a:p>
          <a:p>
            <a:pPr algn="l" marL="490326" indent="-245163" lvl="1">
              <a:lnSpc>
                <a:spcPts val="3179"/>
              </a:lnSpc>
              <a:buFont typeface="Arial"/>
              <a:buChar char="•"/>
            </a:pPr>
            <a:r>
              <a:rPr lang="en-US" sz="2271" spc="22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Interactive Filters (Year, Month, Sale Type)</a:t>
            </a:r>
          </a:p>
          <a:p>
            <a:pPr algn="l">
              <a:lnSpc>
                <a:spcPts val="31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66490" y="1028700"/>
            <a:ext cx="3492810" cy="3490903"/>
            <a:chOff x="0" y="0"/>
            <a:chExt cx="529299" cy="529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299" cy="529010"/>
            </a:xfrm>
            <a:custGeom>
              <a:avLst/>
              <a:gdLst/>
              <a:ahLst/>
              <a:cxnLst/>
              <a:rect r="r" b="b" t="t" l="l"/>
              <a:pathLst>
                <a:path h="529010" w="529299">
                  <a:moveTo>
                    <a:pt x="53197" y="0"/>
                  </a:moveTo>
                  <a:lnTo>
                    <a:pt x="476102" y="0"/>
                  </a:lnTo>
                  <a:cubicBezTo>
                    <a:pt x="490211" y="0"/>
                    <a:pt x="503742" y="5605"/>
                    <a:pt x="513718" y="15581"/>
                  </a:cubicBezTo>
                  <a:cubicBezTo>
                    <a:pt x="523695" y="25557"/>
                    <a:pt x="529299" y="39088"/>
                    <a:pt x="529299" y="53197"/>
                  </a:cubicBezTo>
                  <a:lnTo>
                    <a:pt x="529299" y="475813"/>
                  </a:lnTo>
                  <a:cubicBezTo>
                    <a:pt x="529299" y="489922"/>
                    <a:pt x="523695" y="503453"/>
                    <a:pt x="513718" y="513429"/>
                  </a:cubicBezTo>
                  <a:cubicBezTo>
                    <a:pt x="503742" y="523406"/>
                    <a:pt x="490211" y="529010"/>
                    <a:pt x="476102" y="529010"/>
                  </a:cubicBezTo>
                  <a:lnTo>
                    <a:pt x="53197" y="529010"/>
                  </a:lnTo>
                  <a:cubicBezTo>
                    <a:pt x="39088" y="529010"/>
                    <a:pt x="25557" y="523406"/>
                    <a:pt x="15581" y="513429"/>
                  </a:cubicBezTo>
                  <a:cubicBezTo>
                    <a:pt x="5605" y="503453"/>
                    <a:pt x="0" y="489922"/>
                    <a:pt x="0" y="475813"/>
                  </a:cubicBezTo>
                  <a:lnTo>
                    <a:pt x="0" y="53197"/>
                  </a:lnTo>
                  <a:cubicBezTo>
                    <a:pt x="0" y="39088"/>
                    <a:pt x="5605" y="25557"/>
                    <a:pt x="15581" y="15581"/>
                  </a:cubicBezTo>
                  <a:cubicBezTo>
                    <a:pt x="25557" y="5605"/>
                    <a:pt x="39088" y="0"/>
                    <a:pt x="53197" y="0"/>
                  </a:cubicBezTo>
                  <a:close/>
                </a:path>
              </a:pathLst>
            </a:custGeom>
            <a:blipFill>
              <a:blip r:embed="rId2"/>
              <a:stretch>
                <a:fillRect l="-24890" t="0" r="-2489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1900111" y="3905757"/>
            <a:ext cx="4605485" cy="6112894"/>
            <a:chOff x="0" y="0"/>
            <a:chExt cx="795185" cy="10554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-573893" y="6899550"/>
            <a:ext cx="19435787" cy="0"/>
          </a:xfrm>
          <a:prstGeom prst="line">
            <a:avLst/>
          </a:prstGeom>
          <a:ln cap="flat" w="9525">
            <a:solidFill>
              <a:srgbClr val="EEEEEE">
                <a:alpha val="7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146406" y="4083240"/>
            <a:ext cx="3492810" cy="3490903"/>
            <a:chOff x="0" y="0"/>
            <a:chExt cx="529299" cy="5290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9299" cy="529010"/>
            </a:xfrm>
            <a:custGeom>
              <a:avLst/>
              <a:gdLst/>
              <a:ahLst/>
              <a:cxnLst/>
              <a:rect r="r" b="b" t="t" l="l"/>
              <a:pathLst>
                <a:path h="529010" w="529299">
                  <a:moveTo>
                    <a:pt x="53197" y="0"/>
                  </a:moveTo>
                  <a:lnTo>
                    <a:pt x="476102" y="0"/>
                  </a:lnTo>
                  <a:cubicBezTo>
                    <a:pt x="490211" y="0"/>
                    <a:pt x="503742" y="5605"/>
                    <a:pt x="513718" y="15581"/>
                  </a:cubicBezTo>
                  <a:cubicBezTo>
                    <a:pt x="523695" y="25557"/>
                    <a:pt x="529299" y="39088"/>
                    <a:pt x="529299" y="53197"/>
                  </a:cubicBezTo>
                  <a:lnTo>
                    <a:pt x="529299" y="475813"/>
                  </a:lnTo>
                  <a:cubicBezTo>
                    <a:pt x="529299" y="489922"/>
                    <a:pt x="523695" y="503453"/>
                    <a:pt x="513718" y="513429"/>
                  </a:cubicBezTo>
                  <a:cubicBezTo>
                    <a:pt x="503742" y="523406"/>
                    <a:pt x="490211" y="529010"/>
                    <a:pt x="476102" y="529010"/>
                  </a:cubicBezTo>
                  <a:lnTo>
                    <a:pt x="53197" y="529010"/>
                  </a:lnTo>
                  <a:cubicBezTo>
                    <a:pt x="39088" y="529010"/>
                    <a:pt x="25557" y="523406"/>
                    <a:pt x="15581" y="513429"/>
                  </a:cubicBezTo>
                  <a:cubicBezTo>
                    <a:pt x="5605" y="503453"/>
                    <a:pt x="0" y="489922"/>
                    <a:pt x="0" y="475813"/>
                  </a:cubicBezTo>
                  <a:lnTo>
                    <a:pt x="0" y="53197"/>
                  </a:lnTo>
                  <a:cubicBezTo>
                    <a:pt x="0" y="39088"/>
                    <a:pt x="5605" y="25557"/>
                    <a:pt x="15581" y="15581"/>
                  </a:cubicBezTo>
                  <a:cubicBezTo>
                    <a:pt x="25557" y="5605"/>
                    <a:pt x="39088" y="0"/>
                    <a:pt x="53197" y="0"/>
                  </a:cubicBezTo>
                  <a:close/>
                </a:path>
              </a:pathLst>
            </a:custGeom>
            <a:blipFill>
              <a:blip r:embed="rId3"/>
              <a:stretch>
                <a:fillRect l="-8286" t="0" r="-4149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5265130" y="363383"/>
            <a:ext cx="4193751" cy="5566396"/>
            <a:chOff x="0" y="0"/>
            <a:chExt cx="795185" cy="1055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1540" y="6598899"/>
            <a:ext cx="4617161" cy="642937"/>
            <a:chOff x="0" y="0"/>
            <a:chExt cx="3648127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48127" cy="508000"/>
            </a:xfrm>
            <a:custGeom>
              <a:avLst/>
              <a:gdLst/>
              <a:ahLst/>
              <a:cxnLst/>
              <a:rect r="r" b="b" t="t" l="l"/>
              <a:pathLst>
                <a:path h="508000" w="3648127">
                  <a:moveTo>
                    <a:pt x="167677" y="0"/>
                  </a:moveTo>
                  <a:lnTo>
                    <a:pt x="3480450" y="0"/>
                  </a:lnTo>
                  <a:cubicBezTo>
                    <a:pt x="3524921" y="0"/>
                    <a:pt x="3567570" y="17666"/>
                    <a:pt x="3599016" y="49111"/>
                  </a:cubicBezTo>
                  <a:cubicBezTo>
                    <a:pt x="3630461" y="80557"/>
                    <a:pt x="3648127" y="123206"/>
                    <a:pt x="3648127" y="167677"/>
                  </a:cubicBezTo>
                  <a:lnTo>
                    <a:pt x="3648127" y="340323"/>
                  </a:lnTo>
                  <a:cubicBezTo>
                    <a:pt x="3648127" y="384794"/>
                    <a:pt x="3630461" y="427443"/>
                    <a:pt x="3599016" y="458889"/>
                  </a:cubicBezTo>
                  <a:cubicBezTo>
                    <a:pt x="3567570" y="490334"/>
                    <a:pt x="3524921" y="508000"/>
                    <a:pt x="3480450" y="508000"/>
                  </a:cubicBezTo>
                  <a:lnTo>
                    <a:pt x="167677" y="508000"/>
                  </a:lnTo>
                  <a:cubicBezTo>
                    <a:pt x="123206" y="508000"/>
                    <a:pt x="80557" y="490334"/>
                    <a:pt x="49111" y="458889"/>
                  </a:cubicBezTo>
                  <a:cubicBezTo>
                    <a:pt x="17666" y="427443"/>
                    <a:pt x="0" y="384794"/>
                    <a:pt x="0" y="340323"/>
                  </a:cubicBezTo>
                  <a:lnTo>
                    <a:pt x="0" y="167677"/>
                  </a:lnTo>
                  <a:cubicBezTo>
                    <a:pt x="0" y="123206"/>
                    <a:pt x="17666" y="80557"/>
                    <a:pt x="49111" y="49111"/>
                  </a:cubicBezTo>
                  <a:cubicBezTo>
                    <a:pt x="80557" y="17666"/>
                    <a:pt x="123206" y="0"/>
                    <a:pt x="167677" y="0"/>
                  </a:cubicBezTo>
                  <a:close/>
                </a:path>
              </a:pathLst>
            </a:custGeom>
            <a:solidFill>
              <a:srgbClr val="070628"/>
            </a:solidFill>
            <a:ln w="9525" cap="rnd">
              <a:gradFill>
                <a:gsLst>
                  <a:gs pos="0">
                    <a:srgbClr val="EEEEEE">
                      <a:alpha val="75000"/>
                    </a:srgbClr>
                  </a:gs>
                  <a:gs pos="100000">
                    <a:srgbClr val="EEEEEE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648127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727528"/>
            <a:ext cx="385680" cy="3856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D0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2590102"/>
            <a:ext cx="9114368" cy="208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3"/>
              </a:lnSpc>
            </a:pPr>
            <a:r>
              <a:rPr lang="en-US" sz="15070" spc="-979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KEY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306035"/>
            <a:ext cx="8115300" cy="208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3"/>
              </a:lnSpc>
            </a:pPr>
            <a:r>
              <a:rPr lang="en-US" sz="15070" spc="-979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3068" y="1279189"/>
            <a:ext cx="4059785" cy="15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342" indent="-230671" lvl="1">
              <a:lnSpc>
                <a:spcPts val="2991"/>
              </a:lnSpc>
              <a:buFont typeface="Arial"/>
              <a:buChar char="•"/>
            </a:pPr>
            <a:r>
              <a:rPr lang="en-US" sz="2136" spc="21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Total Sales: 366.6</a:t>
            </a:r>
            <a:r>
              <a:rPr lang="en-US" sz="2136" spc="21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2K</a:t>
            </a:r>
          </a:p>
          <a:p>
            <a:pPr algn="l" marL="461342" indent="-230671" lvl="1">
              <a:lnSpc>
                <a:spcPts val="2991"/>
              </a:lnSpc>
              <a:buFont typeface="Arial"/>
              <a:buChar char="•"/>
            </a:pPr>
            <a:r>
              <a:rPr lang="en-US" sz="2136" spc="21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 Total Profit: 34.11K</a:t>
            </a:r>
          </a:p>
          <a:p>
            <a:pPr algn="l" marL="461342" indent="-230671" lvl="1">
              <a:lnSpc>
                <a:spcPts val="2991"/>
              </a:lnSpc>
              <a:buFont typeface="Arial"/>
              <a:buChar char="•"/>
            </a:pPr>
            <a:r>
              <a:rPr lang="en-US" sz="2136" spc="21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P</a:t>
            </a:r>
            <a:r>
              <a:rPr lang="en-US" sz="2136" spc="21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rofit M</a:t>
            </a:r>
            <a:r>
              <a:rPr lang="en-US" sz="2136" spc="21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argin: 10.26%</a:t>
            </a:r>
          </a:p>
          <a:p>
            <a:pPr algn="l">
              <a:lnSpc>
                <a:spcPts val="299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999026" y="6895529"/>
            <a:ext cx="4987056" cy="170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169" indent="-205584" lvl="1">
              <a:lnSpc>
                <a:spcPts val="2666"/>
              </a:lnSpc>
              <a:buFont typeface="Arial"/>
              <a:buChar char="•"/>
            </a:pPr>
            <a:r>
              <a:rPr lang="en-US" sz="1904" spc="19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Household and Personal Care cat</a:t>
            </a:r>
            <a:r>
              <a:rPr lang="en-US" sz="1904" spc="19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egories l</a:t>
            </a:r>
            <a:r>
              <a:rPr lang="en-US" sz="1904" spc="19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ead sal</a:t>
            </a:r>
            <a:r>
              <a:rPr lang="en-US" sz="1904" spc="19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es.</a:t>
            </a:r>
          </a:p>
          <a:p>
            <a:pPr algn="l" marL="411169" indent="-205584" lvl="1">
              <a:lnSpc>
                <a:spcPts val="2666"/>
              </a:lnSpc>
              <a:buFont typeface="Arial"/>
              <a:buChar char="•"/>
            </a:pPr>
            <a:r>
              <a:rPr lang="en-US" sz="1904" spc="19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 Online and Cash paym</a:t>
            </a:r>
            <a:r>
              <a:rPr lang="en-US" sz="1904" spc="19">
                <a:solidFill>
                  <a:srgbClr val="EEEEEE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ents contribute almost equally.</a:t>
            </a:r>
          </a:p>
          <a:p>
            <a:pPr algn="l">
              <a:lnSpc>
                <a:spcPts val="266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289317" y="1860017"/>
            <a:ext cx="3503995" cy="4435972"/>
            <a:chOff x="0" y="0"/>
            <a:chExt cx="833709" cy="1055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3709" cy="1055456"/>
            </a:xfrm>
            <a:custGeom>
              <a:avLst/>
              <a:gdLst/>
              <a:ahLst/>
              <a:cxnLst/>
              <a:rect r="r" b="b" t="t" l="l"/>
              <a:pathLst>
                <a:path h="1055456" w="833709">
                  <a:moveTo>
                    <a:pt x="203200" y="1055456"/>
                  </a:moveTo>
                  <a:lnTo>
                    <a:pt x="630509" y="1055456"/>
                  </a:lnTo>
                  <a:lnTo>
                    <a:pt x="833709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57150"/>
              <a:ext cx="579709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735564" y="4232166"/>
            <a:ext cx="4319270" cy="5732999"/>
            <a:chOff x="0" y="0"/>
            <a:chExt cx="795185" cy="1055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-573893" y="6971189"/>
            <a:ext cx="19435787" cy="0"/>
          </a:xfrm>
          <a:prstGeom prst="line">
            <a:avLst/>
          </a:prstGeom>
          <a:ln cap="flat" w="9525">
            <a:solidFill>
              <a:srgbClr val="EEEEEE">
                <a:alpha val="7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794628" y="4939030"/>
            <a:ext cx="5464672" cy="4319270"/>
            <a:chOff x="0" y="0"/>
            <a:chExt cx="846621" cy="669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6621" cy="669168"/>
            </a:xfrm>
            <a:custGeom>
              <a:avLst/>
              <a:gdLst/>
              <a:ahLst/>
              <a:cxnLst/>
              <a:rect r="r" b="b" t="t" l="l"/>
              <a:pathLst>
                <a:path h="669168" w="846621">
                  <a:moveTo>
                    <a:pt x="34001" y="0"/>
                  </a:moveTo>
                  <a:lnTo>
                    <a:pt x="812619" y="0"/>
                  </a:lnTo>
                  <a:cubicBezTo>
                    <a:pt x="831398" y="0"/>
                    <a:pt x="846621" y="15223"/>
                    <a:pt x="846621" y="34001"/>
                  </a:cubicBezTo>
                  <a:lnTo>
                    <a:pt x="846621" y="635167"/>
                  </a:lnTo>
                  <a:cubicBezTo>
                    <a:pt x="846621" y="653945"/>
                    <a:pt x="831398" y="669168"/>
                    <a:pt x="812619" y="669168"/>
                  </a:cubicBezTo>
                  <a:lnTo>
                    <a:pt x="34001" y="669168"/>
                  </a:lnTo>
                  <a:cubicBezTo>
                    <a:pt x="15223" y="669168"/>
                    <a:pt x="0" y="653945"/>
                    <a:pt x="0" y="635167"/>
                  </a:cubicBezTo>
                  <a:lnTo>
                    <a:pt x="0" y="34001"/>
                  </a:lnTo>
                  <a:cubicBezTo>
                    <a:pt x="0" y="15223"/>
                    <a:pt x="15223" y="0"/>
                    <a:pt x="34001" y="0"/>
                  </a:cubicBezTo>
                  <a:close/>
                </a:path>
              </a:pathLst>
            </a:custGeom>
            <a:blipFill>
              <a:blip r:embed="rId2"/>
              <a:stretch>
                <a:fillRect l="-9226" t="0" r="-922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9886" y="5830000"/>
            <a:ext cx="4748386" cy="3161983"/>
            <a:chOff x="0" y="0"/>
            <a:chExt cx="3751811" cy="24983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51811" cy="2498357"/>
            </a:xfrm>
            <a:custGeom>
              <a:avLst/>
              <a:gdLst/>
              <a:ahLst/>
              <a:cxnLst/>
              <a:rect r="r" b="b" t="t" l="l"/>
              <a:pathLst>
                <a:path h="2498357" w="3751811">
                  <a:moveTo>
                    <a:pt x="40761" y="0"/>
                  </a:moveTo>
                  <a:lnTo>
                    <a:pt x="3711051" y="0"/>
                  </a:lnTo>
                  <a:cubicBezTo>
                    <a:pt x="3733562" y="0"/>
                    <a:pt x="3751811" y="18249"/>
                    <a:pt x="3751811" y="40761"/>
                  </a:cubicBezTo>
                  <a:lnTo>
                    <a:pt x="3751811" y="2457596"/>
                  </a:lnTo>
                  <a:cubicBezTo>
                    <a:pt x="3751811" y="2480107"/>
                    <a:pt x="3733562" y="2498357"/>
                    <a:pt x="3711051" y="2498357"/>
                  </a:cubicBezTo>
                  <a:lnTo>
                    <a:pt x="40761" y="2498357"/>
                  </a:lnTo>
                  <a:cubicBezTo>
                    <a:pt x="29950" y="2498357"/>
                    <a:pt x="19583" y="2494062"/>
                    <a:pt x="11939" y="2486418"/>
                  </a:cubicBezTo>
                  <a:cubicBezTo>
                    <a:pt x="4294" y="2478774"/>
                    <a:pt x="0" y="2468406"/>
                    <a:pt x="0" y="2457596"/>
                  </a:cubicBezTo>
                  <a:lnTo>
                    <a:pt x="0" y="40761"/>
                  </a:lnTo>
                  <a:cubicBezTo>
                    <a:pt x="0" y="18249"/>
                    <a:pt x="18249" y="0"/>
                    <a:pt x="40761" y="0"/>
                  </a:cubicBezTo>
                  <a:close/>
                </a:path>
              </a:pathLst>
            </a:custGeom>
            <a:solidFill>
              <a:srgbClr val="0A0839"/>
            </a:solidFill>
            <a:ln w="9525" cap="rnd">
              <a:gradFill>
                <a:gsLst>
                  <a:gs pos="0">
                    <a:srgbClr val="EEEEEE">
                      <a:alpha val="75000"/>
                    </a:srgbClr>
                  </a:gs>
                  <a:gs pos="100000">
                    <a:srgbClr val="EEEEEE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751811" cy="2555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05425"/>
            <a:ext cx="10004198" cy="106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1"/>
              </a:lnSpc>
            </a:pPr>
            <a:r>
              <a:rPr lang="en-US" sz="7768" spc="-504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RECOMMENDATIONS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629733"/>
            <a:ext cx="14337062" cy="210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66"/>
              </a:lnSpc>
            </a:pPr>
            <a:r>
              <a:rPr lang="en-US" sz="15185" spc="-987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F</a:t>
            </a:r>
            <a:r>
              <a:rPr lang="en-US" sz="15185" spc="-987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uture Strategy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9886" y="6436098"/>
            <a:ext cx="4890913" cy="255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681" indent="-224341" lvl="1">
              <a:lnSpc>
                <a:spcPts val="2909"/>
              </a:lnSpc>
              <a:buFont typeface="Arial"/>
              <a:buChar char="•"/>
            </a:pP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Focus on high-performing categori</a:t>
            </a: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es.</a:t>
            </a:r>
          </a:p>
          <a:p>
            <a:pPr algn="l" marL="448681" indent="-224341" lvl="1">
              <a:lnSpc>
                <a:spcPts val="2909"/>
              </a:lnSpc>
              <a:buFont typeface="Arial"/>
              <a:buChar char="•"/>
            </a:pP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Monitor monthly sales trends.</a:t>
            </a:r>
          </a:p>
          <a:p>
            <a:pPr algn="l" marL="448681" indent="-224341" lvl="1">
              <a:lnSpc>
                <a:spcPts val="2909"/>
              </a:lnSpc>
              <a:buFont typeface="Arial"/>
              <a:buChar char="•"/>
            </a:pP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</a:t>
            </a: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pand successful product lines.</a:t>
            </a:r>
          </a:p>
          <a:p>
            <a:pPr algn="l" marL="448681" indent="-224341" lvl="1">
              <a:lnSpc>
                <a:spcPts val="2909"/>
              </a:lnSpc>
              <a:buFont typeface="Arial"/>
              <a:buChar char="•"/>
            </a:pP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 dashboard filte</a:t>
            </a:r>
            <a:r>
              <a:rPr lang="en-US" b="true" sz="2078" spc="20">
                <a:solidFill>
                  <a:srgbClr val="EEEE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rs for deeper business analysis.</a:t>
            </a:r>
          </a:p>
          <a:p>
            <a:pPr algn="l">
              <a:lnSpc>
                <a:spcPts val="290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648788" y="408612"/>
            <a:ext cx="3789024" cy="5029200"/>
            <a:chOff x="0" y="0"/>
            <a:chExt cx="795185" cy="1055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86600" y="860245"/>
            <a:ext cx="10352718" cy="26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8"/>
              </a:lnSpc>
            </a:pPr>
            <a:r>
              <a:rPr lang="en-US" sz="18776" spc="-1220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Closi</a:t>
            </a:r>
            <a:r>
              <a:rPr lang="en-US" sz="18776" spc="-1220">
                <a:solidFill>
                  <a:srgbClr val="F7CD01"/>
                </a:solidFill>
                <a:latin typeface="Codec Pro"/>
                <a:ea typeface="Codec Pro"/>
                <a:cs typeface="Codec Pro"/>
                <a:sym typeface="Codec Pro"/>
              </a:rPr>
              <a:t>ng &amp;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12668684" y="4667684"/>
            <a:ext cx="3945002" cy="5236230"/>
            <a:chOff x="0" y="0"/>
            <a:chExt cx="795185" cy="1055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5185" cy="1055456"/>
            </a:xfrm>
            <a:custGeom>
              <a:avLst/>
              <a:gdLst/>
              <a:ahLst/>
              <a:cxnLst/>
              <a:rect r="r" b="b" t="t" l="l"/>
              <a:pathLst>
                <a:path h="1055456" w="795185">
                  <a:moveTo>
                    <a:pt x="203200" y="1055456"/>
                  </a:moveTo>
                  <a:lnTo>
                    <a:pt x="591985" y="1055456"/>
                  </a:lnTo>
                  <a:lnTo>
                    <a:pt x="795185" y="0"/>
                  </a:lnTo>
                  <a:lnTo>
                    <a:pt x="0" y="0"/>
                  </a:lnTo>
                  <a:lnTo>
                    <a:pt x="203200" y="1055456"/>
                  </a:lnTo>
                  <a:close/>
                </a:path>
              </a:pathLst>
            </a:custGeom>
            <a:gradFill rotWithShape="true">
              <a:gsLst>
                <a:gs pos="0">
                  <a:srgbClr val="070628">
                    <a:alpha val="75000"/>
                  </a:srgbClr>
                </a:gs>
                <a:gs pos="100000">
                  <a:srgbClr val="281AE1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57150"/>
              <a:ext cx="541185" cy="111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86600" y="2998175"/>
            <a:ext cx="10732397" cy="26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8"/>
              </a:lnSpc>
            </a:pPr>
            <a:r>
              <a:rPr lang="en-US" sz="18776" spc="-1220">
                <a:solidFill>
                  <a:srgbClr val="EEEEEE"/>
                </a:solidFill>
                <a:latin typeface="Codec Pro"/>
                <a:ea typeface="Codec Pro"/>
                <a:cs typeface="Codec Pro"/>
                <a:sym typeface="Codec Pro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089103"/>
            <a:ext cx="5029200" cy="6169197"/>
            <a:chOff x="0" y="0"/>
            <a:chExt cx="779155" cy="9557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9155" cy="955770"/>
            </a:xfrm>
            <a:custGeom>
              <a:avLst/>
              <a:gdLst/>
              <a:ahLst/>
              <a:cxnLst/>
              <a:rect r="r" b="b" t="t" l="l"/>
              <a:pathLst>
                <a:path h="955770" w="779155">
                  <a:moveTo>
                    <a:pt x="36945" y="0"/>
                  </a:moveTo>
                  <a:lnTo>
                    <a:pt x="742209" y="0"/>
                  </a:lnTo>
                  <a:cubicBezTo>
                    <a:pt x="762614" y="0"/>
                    <a:pt x="779155" y="16541"/>
                    <a:pt x="779155" y="36945"/>
                  </a:cubicBezTo>
                  <a:lnTo>
                    <a:pt x="779155" y="918825"/>
                  </a:lnTo>
                  <a:cubicBezTo>
                    <a:pt x="779155" y="928623"/>
                    <a:pt x="775262" y="938020"/>
                    <a:pt x="768334" y="944949"/>
                  </a:cubicBezTo>
                  <a:cubicBezTo>
                    <a:pt x="761405" y="951877"/>
                    <a:pt x="752008" y="955770"/>
                    <a:pt x="742209" y="955770"/>
                  </a:cubicBezTo>
                  <a:lnTo>
                    <a:pt x="36945" y="955770"/>
                  </a:lnTo>
                  <a:cubicBezTo>
                    <a:pt x="16541" y="955770"/>
                    <a:pt x="0" y="939229"/>
                    <a:pt x="0" y="918825"/>
                  </a:cubicBezTo>
                  <a:lnTo>
                    <a:pt x="0" y="36945"/>
                  </a:lnTo>
                  <a:cubicBezTo>
                    <a:pt x="0" y="16541"/>
                    <a:pt x="16541" y="0"/>
                    <a:pt x="3694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085" r="0" b="-1108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10936" y="6772561"/>
            <a:ext cx="4419617" cy="2485739"/>
            <a:chOff x="0" y="0"/>
            <a:chExt cx="3492043" cy="19640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92043" cy="1964041"/>
            </a:xfrm>
            <a:custGeom>
              <a:avLst/>
              <a:gdLst/>
              <a:ahLst/>
              <a:cxnLst/>
              <a:rect r="r" b="b" t="t" l="l"/>
              <a:pathLst>
                <a:path h="1964041" w="3492043">
                  <a:moveTo>
                    <a:pt x="43793" y="0"/>
                  </a:moveTo>
                  <a:lnTo>
                    <a:pt x="3448250" y="0"/>
                  </a:lnTo>
                  <a:cubicBezTo>
                    <a:pt x="3472436" y="0"/>
                    <a:pt x="3492043" y="19607"/>
                    <a:pt x="3492043" y="43793"/>
                  </a:cubicBezTo>
                  <a:lnTo>
                    <a:pt x="3492043" y="1920248"/>
                  </a:lnTo>
                  <a:cubicBezTo>
                    <a:pt x="3492043" y="1944434"/>
                    <a:pt x="3472436" y="1964041"/>
                    <a:pt x="3448250" y="1964041"/>
                  </a:cubicBezTo>
                  <a:lnTo>
                    <a:pt x="43793" y="1964041"/>
                  </a:lnTo>
                  <a:cubicBezTo>
                    <a:pt x="19607" y="1964041"/>
                    <a:pt x="0" y="1944434"/>
                    <a:pt x="0" y="1920248"/>
                  </a:cubicBezTo>
                  <a:lnTo>
                    <a:pt x="0" y="43793"/>
                  </a:lnTo>
                  <a:cubicBezTo>
                    <a:pt x="0" y="19607"/>
                    <a:pt x="19607" y="0"/>
                    <a:pt x="43793" y="0"/>
                  </a:cubicBezTo>
                  <a:close/>
                </a:path>
              </a:pathLst>
            </a:custGeom>
            <a:solidFill>
              <a:srgbClr val="0A0839"/>
            </a:solidFill>
            <a:ln w="9525" cap="rnd">
              <a:gradFill>
                <a:gsLst>
                  <a:gs pos="0">
                    <a:srgbClr val="EEEEEE">
                      <a:alpha val="75000"/>
                    </a:srgbClr>
                  </a:gs>
                  <a:gs pos="100000">
                    <a:srgbClr val="EEEEEE">
                      <a:alpha val="75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492043" cy="2021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DAHNDmRTNNU</dc:identifier>
  <dcterms:modified xsi:type="dcterms:W3CDTF">2011-08-01T06:04:30Z</dcterms:modified>
  <cp:revision>1</cp:revision>
  <dc:title>Dashboard Analysis</dc:title>
</cp:coreProperties>
</file>